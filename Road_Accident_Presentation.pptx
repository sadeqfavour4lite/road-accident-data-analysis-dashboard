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7" r:id="rId4"/>
    <p:sldId id="265" r:id="rId5"/>
    <p:sldId id="266" r:id="rId6"/>
    <p:sldId id="268" r:id="rId7"/>
    <p:sldId id="259" r:id="rId8"/>
    <p:sldId id="260" r:id="rId9"/>
    <p:sldId id="261" r:id="rId10"/>
    <p:sldId id="262" r:id="rId11"/>
    <p:sldId id="263" r:id="rId12"/>
    <p:sldId id="264" r:id="rId13"/>
    <p:sldId id="267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67" d="100"/>
          <a:sy n="67" d="100"/>
        </p:scale>
        <p:origin x="64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8DE0FC-9060-4D81-82D6-C4D03188602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2C6017-EF32-4BC8-8F20-27BA872B5AB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1D082E-5C22-425A-B05C-9165CAB609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A4C7B-0A24-48EA-B813-180391EA5971}" type="datetimeFigureOut">
              <a:rPr lang="en-GB" smtClean="0"/>
              <a:t>05/01/2026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BDECEA-32EE-4B3A-9C74-88E6C78397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79AE68-F9F8-42DE-B399-0AE5D79369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EC92A9-0618-4D13-B262-6B0FAA062E8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332491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CDE28D-7FA7-42DD-8653-8661663FF8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0734A4-2A5B-4E0D-A31F-82D6A251CA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E63B54-C776-4853-A237-1CBD1A2663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A4C7B-0A24-48EA-B813-180391EA5971}" type="datetimeFigureOut">
              <a:rPr lang="en-GB" smtClean="0"/>
              <a:t>05/01/2026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5F3E1D-DA1E-49A7-BEF7-0CED5DB09F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E7CCD2-F8F1-487A-8EB2-9D965D0542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EC92A9-0618-4D13-B262-6B0FAA062E8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039183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BB5D82-3F9D-4EE4-9DCE-70CDD2228D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692204-4B9C-4DFE-9440-949B6ED848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1404D2-46FB-468A-92EB-98D365B416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A4C7B-0A24-48EA-B813-180391EA5971}" type="datetimeFigureOut">
              <a:rPr lang="en-GB" smtClean="0"/>
              <a:t>05/01/2026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C17107-0E57-4BBA-80C7-DAC8512514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C956E3-6E2E-4BD6-800B-53C1661FE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EC92A9-0618-4D13-B262-6B0FAA062E8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855594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BC101C-563C-41F5-9289-0DC993B30B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FC5678-C9DF-4984-8545-B80BB53E656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71A5ECA-EEBF-4EFD-B59E-B8126B9437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75FF66A-A8EF-47E9-90B3-01D2542ACC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A4C7B-0A24-48EA-B813-180391EA5971}" type="datetimeFigureOut">
              <a:rPr lang="en-GB" smtClean="0"/>
              <a:t>05/01/2026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F4DBB4B-5508-438F-B878-7CA099ED66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85210ED-9E8E-4DEA-A0E8-FD656DD66C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EC92A9-0618-4D13-B262-6B0FAA062E8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132034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58C755-E55B-4249-B92E-D57DBAD943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DFD351-37CC-4390-9BE9-47057E4D0D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6284CE4-763A-4993-8519-06DDF45CA9D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BB76ED7-5A80-4CA1-9C8C-A331DF66122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27757F0-D744-485E-B86D-36A82B6D1EE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85FA308-535F-4CA3-8089-6E8340C9A6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A4C7B-0A24-48EA-B813-180391EA5971}" type="datetimeFigureOut">
              <a:rPr lang="en-GB" smtClean="0"/>
              <a:t>05/01/2026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8A6A7E0-B674-402D-8049-33105E91E8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48F905A-BEA3-49E3-853F-58FB10D9C1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EC92A9-0618-4D13-B262-6B0FAA062E8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825684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09C1C1-00B9-421F-BF60-7EC137EAFE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38D2F9-2C8C-4EB9-8B5B-0F75F6E7EF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A4C7B-0A24-48EA-B813-180391EA5971}" type="datetimeFigureOut">
              <a:rPr lang="en-GB" smtClean="0"/>
              <a:t>05/01/2026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3C0CCFF-454B-4354-AF6D-F4FFF3226E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0A78B4-018A-4796-9767-D5D6BA05CD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EC92A9-0618-4D13-B262-6B0FAA062E8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660608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66EBEAD-71F8-4CD4-8B04-6916906486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A4C7B-0A24-48EA-B813-180391EA5971}" type="datetimeFigureOut">
              <a:rPr lang="en-GB" smtClean="0"/>
              <a:t>05/01/2026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D54DB36-4A32-45EA-BFB5-2B57978E72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9E550A-C923-473E-84ED-32D3B8B2C3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EC92A9-0618-4D13-B262-6B0FAA062E8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165517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85473E-B485-4CFE-976A-22CCE5A6BD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598352-9B99-4176-9543-6220B723D0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AC36AFD-053D-4CF6-AFFE-14181FB8902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ED1A743-3CBC-4247-89DD-61F32B59CA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A4C7B-0A24-48EA-B813-180391EA5971}" type="datetimeFigureOut">
              <a:rPr lang="en-GB" smtClean="0"/>
              <a:t>05/01/2026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BCC5BA1-7533-4925-96F1-93423A87B8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4433CB-9A7A-4845-B2F9-7C1E60F9DF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EC92A9-0618-4D13-B262-6B0FAA062E8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922455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8352DA-6BD4-480A-A74B-6D62CA8DCF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AAF7059-BF74-4B8F-9DDA-0ECC25BA690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993130C-6850-4466-BB47-70A2C22B599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86DAE40-C4D3-48FB-8CBF-CEE84492C7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A4C7B-0A24-48EA-B813-180391EA5971}" type="datetimeFigureOut">
              <a:rPr lang="en-GB" smtClean="0"/>
              <a:t>05/01/2026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24BA15E-BC12-4F5F-B008-09B5AD8AEB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4B96381-C73F-4C04-BDC6-8705CC8F6E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EC92A9-0618-4D13-B262-6B0FAA062E8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627415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29C032-4CCC-48F0-A69E-A81A19D718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EE30DA1-FD87-4A45-BDCD-A446EAA5942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F31A17-830E-4DF4-A313-0A3A7EDA4D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A4C7B-0A24-48EA-B813-180391EA5971}" type="datetimeFigureOut">
              <a:rPr lang="en-GB" smtClean="0"/>
              <a:t>05/01/2026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6E816C-4E6F-40DC-BD4F-61989B0316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00CE84-4BD0-41DD-9395-9A00D1B62C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EC92A9-0618-4D13-B262-6B0FAA062E8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724673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B7DDA3F-F829-4AD8-91E4-CCC224C6C49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FBABBCE-5DC9-44AA-99B9-DA0E2B3E406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77C291-D408-42F5-AB26-104C214E6F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A4C7B-0A24-48EA-B813-180391EA5971}" type="datetimeFigureOut">
              <a:rPr lang="en-GB" smtClean="0"/>
              <a:t>05/01/2026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2A2A90-5CA6-4637-B863-A3F33DD4A5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A47A63-B7AA-44D8-92A3-AC9D537564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EC92A9-0618-4D13-B262-6B0FAA062E8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584632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3A015A1-F677-4F07-94D2-0A4AA39255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F1C33C-09DA-4794-9E49-92C1E6D348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C84200-EE76-452F-A110-D5EB99C00C9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5A4C7B-0A24-48EA-B813-180391EA5971}" type="datetimeFigureOut">
              <a:rPr lang="en-GB" smtClean="0"/>
              <a:t>05/01/2026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9DA71E-A9BD-4F7B-B69A-C22C88A330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12D652-AB28-47A4-B212-0E84D70CE0C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5EC92A9-0618-4D13-B262-6B0FAA062E8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973707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B0144DB2-9F84-407C-A644-5F049A433D7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9342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AA128B4-5C33-4B77-977B-2D0289BBF559}"/>
              </a:ext>
            </a:extLst>
          </p:cNvPr>
          <p:cNvSpPr txBox="1"/>
          <p:nvPr/>
        </p:nvSpPr>
        <p:spPr>
          <a:xfrm>
            <a:off x="342899" y="619125"/>
            <a:ext cx="126682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b="1" dirty="0">
                <a:solidFill>
                  <a:schemeClr val="bg1">
                    <a:lumMod val="95000"/>
                  </a:schemeClr>
                </a:solidFill>
                <a:effectLst/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Safety</a:t>
            </a:r>
          </a:p>
          <a:p>
            <a:endParaRPr lang="en-GB" sz="2000" b="1" dirty="0">
              <a:solidFill>
                <a:schemeClr val="bg1">
                  <a:lumMod val="95000"/>
                </a:schemeClr>
              </a:solidFill>
              <a:latin typeface="Berlin Sans FB" panose="020E0602020502020306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D326A20-2812-45B2-9428-BC40FE7C015B}"/>
              </a:ext>
            </a:extLst>
          </p:cNvPr>
          <p:cNvSpPr txBox="1"/>
          <p:nvPr/>
        </p:nvSpPr>
        <p:spPr>
          <a:xfrm>
            <a:off x="542923" y="1676400"/>
            <a:ext cx="555307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>
                <a:solidFill>
                  <a:schemeClr val="tx2">
                    <a:lumMod val="20000"/>
                    <a:lumOff val="80000"/>
                  </a:schemeClr>
                </a:solidFill>
                <a:effectLst/>
                <a:latin typeface="Georgia" panose="020405020504050203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Analysis of Road Accident Data</a:t>
            </a:r>
          </a:p>
          <a:p>
            <a:endParaRPr lang="en-GB" sz="2400" b="1" dirty="0">
              <a:solidFill>
                <a:schemeClr val="tx2">
                  <a:lumMod val="20000"/>
                  <a:lumOff val="80000"/>
                </a:schemeClr>
              </a:solidFill>
              <a:latin typeface="Georgia" panose="02040502050405020303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E398FE1-8C45-44EE-B8D6-5E9DE6D2737E}"/>
              </a:ext>
            </a:extLst>
          </p:cNvPr>
          <p:cNvSpPr txBox="1"/>
          <p:nvPr/>
        </p:nvSpPr>
        <p:spPr>
          <a:xfrm>
            <a:off x="914400" y="3981450"/>
            <a:ext cx="45339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b="1" dirty="0">
                <a:solidFill>
                  <a:schemeClr val="tx2">
                    <a:lumMod val="20000"/>
                    <a:lumOff val="80000"/>
                  </a:schemeClr>
                </a:solidFill>
                <a:effectLst/>
                <a:latin typeface="Berlin Sans FB Demi" panose="020E08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Improving Road Safety Through Data Analysis Tools: Pivot Tables &amp; Dashboards</a:t>
            </a:r>
          </a:p>
          <a:p>
            <a:pPr algn="ctr"/>
            <a:endParaRPr lang="en-GB" sz="2400" b="1" dirty="0">
              <a:solidFill>
                <a:schemeClr val="tx2">
                  <a:lumMod val="20000"/>
                  <a:lumOff val="80000"/>
                </a:schemeClr>
              </a:solidFill>
              <a:latin typeface="Berlin Sans FB Demi" panose="020E0802020502020306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39EC255-22AF-442E-A2B0-CFCB0CCF8317}"/>
              </a:ext>
            </a:extLst>
          </p:cNvPr>
          <p:cNvSpPr txBox="1"/>
          <p:nvPr/>
        </p:nvSpPr>
        <p:spPr>
          <a:xfrm>
            <a:off x="914400" y="5886450"/>
            <a:ext cx="42100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b="1" i="0" dirty="0">
                <a:solidFill>
                  <a:schemeClr val="accent2">
                    <a:lumMod val="20000"/>
                    <a:lumOff val="80000"/>
                  </a:schemeClr>
                </a:solidFill>
                <a:effectLst/>
                <a:latin typeface="Bell MT" panose="02020503060305020303" pitchFamily="18" charset="0"/>
              </a:rPr>
              <a:t>Presented by Pod Titan C25 - 11</a:t>
            </a:r>
            <a:endParaRPr lang="en-GB" sz="2000" b="1" dirty="0">
              <a:solidFill>
                <a:schemeClr val="accent2">
                  <a:lumMod val="20000"/>
                  <a:lumOff val="80000"/>
                </a:schemeClr>
              </a:solidFill>
              <a:latin typeface="Bell MT" panose="020205030603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746822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37A17FB-39A7-4EF4-A2A4-71983E3419D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7997"/>
            <a:ext cx="12192000" cy="688599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428B444-A85A-4D23-88D8-EA27CE08A9EF}"/>
              </a:ext>
            </a:extLst>
          </p:cNvPr>
          <p:cNvSpPr txBox="1"/>
          <p:nvPr/>
        </p:nvSpPr>
        <p:spPr>
          <a:xfrm>
            <a:off x="1209675" y="800100"/>
            <a:ext cx="10982325" cy="766364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Bef>
                <a:spcPts val="1200"/>
              </a:spcBef>
            </a:pPr>
            <a:r>
              <a:rPr lang="en-GB" sz="4400" b="1" kern="0" dirty="0">
                <a:solidFill>
                  <a:schemeClr val="bg1"/>
                </a:solidFill>
                <a:effectLst/>
                <a:latin typeface="Georgia" panose="02040502050405020303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Objectives and Data Cleaning</a:t>
            </a:r>
            <a:endParaRPr lang="en-GB" sz="2800" b="1" kern="0" dirty="0">
              <a:solidFill>
                <a:schemeClr val="bg1"/>
              </a:solidFill>
              <a:effectLst/>
              <a:latin typeface="Georgia" panose="02040502050405020303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AC6952E-C88E-4553-A5D6-72B33069571C}"/>
              </a:ext>
            </a:extLst>
          </p:cNvPr>
          <p:cNvSpPr txBox="1"/>
          <p:nvPr/>
        </p:nvSpPr>
        <p:spPr>
          <a:xfrm>
            <a:off x="714375" y="1676400"/>
            <a:ext cx="395287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dirty="0">
                <a:solidFill>
                  <a:schemeClr val="accent2">
                    <a:lumMod val="20000"/>
                    <a:lumOff val="80000"/>
                  </a:schemeClr>
                </a:solidFill>
                <a:effectLst/>
                <a:latin typeface="Bell MT" panose="020205030603050203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Key Factors and Data Preparation</a:t>
            </a:r>
          </a:p>
          <a:p>
            <a:endParaRPr lang="en-GB" sz="2000" dirty="0">
              <a:solidFill>
                <a:schemeClr val="accent2">
                  <a:lumMod val="20000"/>
                  <a:lumOff val="80000"/>
                </a:schemeClr>
              </a:solidFill>
              <a:latin typeface="Bell MT" panose="02020503060305020303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6C3AF37-DB82-407F-B15A-FB4B9D142760}"/>
              </a:ext>
            </a:extLst>
          </p:cNvPr>
          <p:cNvSpPr txBox="1"/>
          <p:nvPr/>
        </p:nvSpPr>
        <p:spPr>
          <a:xfrm>
            <a:off x="714375" y="2981325"/>
            <a:ext cx="17335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schemeClr val="accent2">
                    <a:lumMod val="20000"/>
                    <a:lumOff val="80000"/>
                  </a:schemeClr>
                </a:solidFill>
                <a:effectLst/>
                <a:latin typeface="Georgia" panose="020405020504050203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Objective</a:t>
            </a:r>
          </a:p>
          <a:p>
            <a:endParaRPr lang="en-GB" b="1" dirty="0">
              <a:solidFill>
                <a:schemeClr val="accent2">
                  <a:lumMod val="20000"/>
                  <a:lumOff val="80000"/>
                </a:schemeClr>
              </a:solidFill>
              <a:latin typeface="Georgia" panose="02040502050405020303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E4F5316-AF2B-4DAE-AB23-C9C9AF83E90F}"/>
              </a:ext>
            </a:extLst>
          </p:cNvPr>
          <p:cNvSpPr txBox="1"/>
          <p:nvPr/>
        </p:nvSpPr>
        <p:spPr>
          <a:xfrm>
            <a:off x="542925" y="3762375"/>
            <a:ext cx="3771900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000" b="1" dirty="0">
                <a:solidFill>
                  <a:schemeClr val="bg1">
                    <a:lumMod val="95000"/>
                  </a:schemeClr>
                </a:solidFill>
                <a:effectLst/>
                <a:latin typeface="Bell MT" panose="020205030603050203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The primary aim of this analysis is to identify key factors affecting casualty severity in road accidents, informing targeted interventions to improve safety outcomes.</a:t>
            </a:r>
          </a:p>
          <a:p>
            <a:pPr algn="ctr"/>
            <a:endParaRPr lang="en-GB" sz="2000" b="1" dirty="0">
              <a:solidFill>
                <a:schemeClr val="bg1">
                  <a:lumMod val="95000"/>
                </a:schemeClr>
              </a:solidFill>
              <a:latin typeface="Bell MT" panose="02020503060305020303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FA1D224-2A8A-40D4-80EF-2D2D833352BE}"/>
              </a:ext>
            </a:extLst>
          </p:cNvPr>
          <p:cNvSpPr txBox="1"/>
          <p:nvPr/>
        </p:nvSpPr>
        <p:spPr>
          <a:xfrm>
            <a:off x="7077075" y="2981325"/>
            <a:ext cx="18573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800" b="1" dirty="0">
                <a:solidFill>
                  <a:schemeClr val="accent2">
                    <a:lumMod val="20000"/>
                    <a:lumOff val="80000"/>
                  </a:schemeClr>
                </a:solidFill>
                <a:effectLst/>
                <a:latin typeface="Georgia" panose="020405020504050203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Data Cleaning</a:t>
            </a:r>
            <a:endParaRPr lang="en-GB" sz="1800" dirty="0">
              <a:solidFill>
                <a:schemeClr val="accent2">
                  <a:lumMod val="20000"/>
                  <a:lumOff val="80000"/>
                </a:schemeClr>
              </a:solidFill>
              <a:effectLst/>
              <a:latin typeface="Georgia" panose="02040502050405020303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GB" dirty="0">
              <a:solidFill>
                <a:schemeClr val="accent2">
                  <a:lumMod val="20000"/>
                  <a:lumOff val="80000"/>
                </a:schemeClr>
              </a:solidFill>
              <a:latin typeface="Georgia" panose="02040502050405020303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271A00A-8AEF-440F-B05F-6FB365FA944E}"/>
              </a:ext>
            </a:extLst>
          </p:cNvPr>
          <p:cNvSpPr txBox="1"/>
          <p:nvPr/>
        </p:nvSpPr>
        <p:spPr>
          <a:xfrm>
            <a:off x="6448425" y="3762375"/>
            <a:ext cx="436245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000" b="1" dirty="0">
                <a:solidFill>
                  <a:schemeClr val="bg1"/>
                </a:solidFill>
                <a:effectLst/>
                <a:latin typeface="Bell MT" panose="020205030603050203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Proper data cleaning involves handling missing data effectively, filtering relevant columns, and validating entries to ensure the analysis yields accurate and reliable insights on road safety.</a:t>
            </a:r>
            <a:endParaRPr lang="en-GB" sz="2000" dirty="0">
              <a:solidFill>
                <a:schemeClr val="bg1"/>
              </a:solidFill>
              <a:effectLst/>
              <a:latin typeface="Bell MT" panose="02020503060305020303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/>
            <a:endParaRPr lang="en-GB" sz="2000" dirty="0">
              <a:solidFill>
                <a:schemeClr val="bg1"/>
              </a:solidFill>
              <a:latin typeface="Bell MT" panose="020205030603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116619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3AEC1ED-E614-474C-8B7A-4CAC9168A40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05328"/>
            <a:ext cx="12334874" cy="706865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5355EF1-0989-45AD-9853-C9802DBCFD00}"/>
              </a:ext>
            </a:extLst>
          </p:cNvPr>
          <p:cNvSpPr txBox="1"/>
          <p:nvPr/>
        </p:nvSpPr>
        <p:spPr>
          <a:xfrm>
            <a:off x="5867400" y="1615470"/>
            <a:ext cx="302895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6000" b="1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417,883</a:t>
            </a:r>
          </a:p>
          <a:p>
            <a:endParaRPr lang="en-GB" sz="6000" b="1" dirty="0">
              <a:solidFill>
                <a:schemeClr val="bg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89199A9-AB4C-43A8-943C-2FE59448CAD4}"/>
              </a:ext>
            </a:extLst>
          </p:cNvPr>
          <p:cNvSpPr txBox="1"/>
          <p:nvPr/>
        </p:nvSpPr>
        <p:spPr>
          <a:xfrm>
            <a:off x="5867400" y="2723465"/>
            <a:ext cx="256222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Total Casualties</a:t>
            </a:r>
            <a:endParaRPr lang="en-GB" sz="24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GB" sz="2400" dirty="0">
              <a:solidFill>
                <a:schemeClr val="bg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7C61899-71A8-4A99-A2FB-A820E6623BD8}"/>
              </a:ext>
            </a:extLst>
          </p:cNvPr>
          <p:cNvSpPr txBox="1"/>
          <p:nvPr/>
        </p:nvSpPr>
        <p:spPr>
          <a:xfrm>
            <a:off x="5867400" y="3800475"/>
            <a:ext cx="413385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b="1" dirty="0">
                <a:solidFill>
                  <a:schemeClr val="bg1"/>
                </a:solidFill>
                <a:effectLst/>
                <a:latin typeface="Bell MT" panose="020205030603050203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In the analysis of road accident data, a staggering 417,883 total casualties were recorded, highlighting the urgent need for improved safety measures across all road users.</a:t>
            </a:r>
          </a:p>
          <a:p>
            <a:endParaRPr lang="en-GB" sz="2000" b="1" dirty="0">
              <a:solidFill>
                <a:schemeClr val="bg1"/>
              </a:solidFill>
              <a:latin typeface="Bell MT" panose="020205030603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911639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2DC9F79-8D49-41F1-8A9A-A9D79C4EA60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86831"/>
            <a:ext cx="12363449" cy="710675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308FBE4-67CD-4A29-9FC3-5D1EB83D60D3}"/>
              </a:ext>
            </a:extLst>
          </p:cNvPr>
          <p:cNvSpPr txBox="1"/>
          <p:nvPr/>
        </p:nvSpPr>
        <p:spPr>
          <a:xfrm>
            <a:off x="361950" y="885825"/>
            <a:ext cx="2600325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600" b="1" dirty="0">
                <a:solidFill>
                  <a:schemeClr val="bg2">
                    <a:lumMod val="90000"/>
                  </a:schemeClr>
                </a:solidFill>
                <a:effectLst/>
                <a:latin typeface="Bell MT" panose="020205030603050203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Vehicle and Road Analysis</a:t>
            </a:r>
          </a:p>
          <a:p>
            <a:endParaRPr lang="en-GB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8BECC2B-126E-4D92-AEA3-B957352E90DA}"/>
              </a:ext>
            </a:extLst>
          </p:cNvPr>
          <p:cNvSpPr txBox="1"/>
          <p:nvPr/>
        </p:nvSpPr>
        <p:spPr>
          <a:xfrm>
            <a:off x="5895973" y="2138273"/>
            <a:ext cx="507682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>
                <a:solidFill>
                  <a:schemeClr val="bg2">
                    <a:lumMod val="90000"/>
                  </a:schemeClr>
                </a:solidFill>
                <a:effectLst/>
                <a:latin typeface="Bell MT" panose="020205030603050203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Vehicle Involvement</a:t>
            </a:r>
            <a:endParaRPr lang="en-GB" sz="2400" dirty="0">
              <a:solidFill>
                <a:schemeClr val="bg2">
                  <a:lumMod val="90000"/>
                </a:schemeClr>
              </a:solidFill>
              <a:effectLst/>
              <a:latin typeface="Bell MT" panose="02020503060305020303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GB" sz="2400" dirty="0">
              <a:solidFill>
                <a:schemeClr val="bg2">
                  <a:lumMod val="90000"/>
                </a:schemeClr>
              </a:solidFill>
              <a:latin typeface="Bell MT" panose="02020503060305020303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43BC971-8700-4E72-BCA4-817189939E1B}"/>
              </a:ext>
            </a:extLst>
          </p:cNvPr>
          <p:cNvSpPr txBox="1"/>
          <p:nvPr/>
        </p:nvSpPr>
        <p:spPr>
          <a:xfrm>
            <a:off x="5943599" y="2838450"/>
            <a:ext cx="573405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800" b="1" dirty="0">
                <a:solidFill>
                  <a:schemeClr val="accent2">
                    <a:lumMod val="20000"/>
                    <a:lumOff val="80000"/>
                  </a:schemeClr>
                </a:solidFill>
                <a:effectLst/>
                <a:latin typeface="Bell MT" panose="020205030603050203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Cars account for 79.8% of casualties, highlighting the need for focused safety interventions on this vehicle type.</a:t>
            </a:r>
            <a:endParaRPr lang="en-GB" sz="1800" dirty="0">
              <a:solidFill>
                <a:schemeClr val="accent2">
                  <a:lumMod val="20000"/>
                  <a:lumOff val="80000"/>
                </a:schemeClr>
              </a:solidFill>
              <a:effectLst/>
              <a:latin typeface="Bell MT" panose="02020503060305020303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GB" dirty="0">
              <a:solidFill>
                <a:schemeClr val="accent2">
                  <a:lumMod val="20000"/>
                  <a:lumOff val="80000"/>
                </a:schemeClr>
              </a:solidFill>
              <a:latin typeface="Bell MT" panose="02020503060305020303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D4726B5-FFDD-4FB4-9DEC-B35C6AA5E3D0}"/>
              </a:ext>
            </a:extLst>
          </p:cNvPr>
          <p:cNvSpPr txBox="1"/>
          <p:nvPr/>
        </p:nvSpPr>
        <p:spPr>
          <a:xfrm>
            <a:off x="5953124" y="3914775"/>
            <a:ext cx="386715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b="1" dirty="0">
                <a:solidFill>
                  <a:schemeClr val="bg2">
                    <a:lumMod val="90000"/>
                  </a:schemeClr>
                </a:solidFill>
                <a:effectLst/>
                <a:latin typeface="Bell MT" panose="020205030603050203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Road Type Distribution</a:t>
            </a:r>
            <a:endParaRPr lang="en-GB" sz="2000" dirty="0">
              <a:solidFill>
                <a:schemeClr val="bg2">
                  <a:lumMod val="90000"/>
                </a:schemeClr>
              </a:solidFill>
              <a:effectLst/>
              <a:latin typeface="Bell MT" panose="02020503060305020303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GB" sz="2000" dirty="0">
              <a:solidFill>
                <a:schemeClr val="bg2">
                  <a:lumMod val="90000"/>
                </a:schemeClr>
              </a:solidFill>
              <a:latin typeface="Bell MT" panose="02020503060305020303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7A30CC1-0A94-4C1A-8C5E-B230E61AFBFF}"/>
              </a:ext>
            </a:extLst>
          </p:cNvPr>
          <p:cNvSpPr txBox="1"/>
          <p:nvPr/>
        </p:nvSpPr>
        <p:spPr>
          <a:xfrm>
            <a:off x="5953124" y="4714101"/>
            <a:ext cx="547687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schemeClr val="accent2">
                    <a:lumMod val="20000"/>
                    <a:lumOff val="80000"/>
                  </a:schemeClr>
                </a:solidFill>
                <a:effectLst/>
                <a:latin typeface="Bell MT" panose="020205030603050203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Single carriageways experience the highest casualty rates, necessitating targeted improvements for safety in urban areas.</a:t>
            </a:r>
          </a:p>
          <a:p>
            <a:endParaRPr lang="en-GB" b="1" dirty="0">
              <a:solidFill>
                <a:schemeClr val="accent2">
                  <a:lumMod val="20000"/>
                  <a:lumOff val="80000"/>
                </a:schemeClr>
              </a:solidFill>
              <a:latin typeface="Bell MT" panose="020205030603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317571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8D256A6-2783-4741-865C-7DFB87F9C6A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7998"/>
            <a:ext cx="12192000" cy="688599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30DBDB4-DCA1-41C8-9522-DA0E411EB0B6}"/>
              </a:ext>
            </a:extLst>
          </p:cNvPr>
          <p:cNvSpPr txBox="1"/>
          <p:nvPr/>
        </p:nvSpPr>
        <p:spPr>
          <a:xfrm>
            <a:off x="333374" y="885825"/>
            <a:ext cx="381952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b="1" i="0" dirty="0">
                <a:solidFill>
                  <a:schemeClr val="bg1">
                    <a:lumMod val="95000"/>
                  </a:schemeClr>
                </a:solidFill>
                <a:effectLst/>
                <a:latin typeface="Georgia" panose="02040502050405020303" pitchFamily="18" charset="0"/>
              </a:rPr>
              <a:t>Road Conditions</a:t>
            </a:r>
            <a:endParaRPr lang="en-GB" sz="3200" dirty="0">
              <a:solidFill>
                <a:schemeClr val="bg1">
                  <a:lumMod val="95000"/>
                </a:schemeClr>
              </a:solidFill>
              <a:latin typeface="Georgia" panose="02040502050405020303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D5E1DFF-B3DB-4C62-95D5-4444937F3245}"/>
              </a:ext>
            </a:extLst>
          </p:cNvPr>
          <p:cNvSpPr txBox="1"/>
          <p:nvPr/>
        </p:nvSpPr>
        <p:spPr>
          <a:xfrm>
            <a:off x="333374" y="1581150"/>
            <a:ext cx="481012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b="1" i="0" dirty="0">
                <a:solidFill>
                  <a:schemeClr val="bg1">
                    <a:lumMod val="95000"/>
                  </a:schemeClr>
                </a:solidFill>
                <a:effectLst/>
                <a:latin typeface="Bell MT" panose="02020503060305020303" pitchFamily="18" charset="0"/>
              </a:rPr>
              <a:t>Analysis of Surface and Light Conditions</a:t>
            </a:r>
            <a:endParaRPr lang="en-GB" sz="2000" b="1" dirty="0">
              <a:solidFill>
                <a:schemeClr val="bg1">
                  <a:lumMod val="95000"/>
                </a:schemeClr>
              </a:solidFill>
              <a:latin typeface="Bell MT" panose="02020503060305020303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6AE57B0-5E2B-40C3-ADE7-750A02DC643A}"/>
              </a:ext>
            </a:extLst>
          </p:cNvPr>
          <p:cNvSpPr txBox="1"/>
          <p:nvPr/>
        </p:nvSpPr>
        <p:spPr>
          <a:xfrm>
            <a:off x="781050" y="2781300"/>
            <a:ext cx="2552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b="1" i="0" dirty="0">
                <a:solidFill>
                  <a:schemeClr val="bg1">
                    <a:lumMod val="95000"/>
                  </a:schemeClr>
                </a:solidFill>
                <a:effectLst/>
                <a:latin typeface="Bell MT" panose="02020503060305020303" pitchFamily="18" charset="0"/>
              </a:rPr>
              <a:t>Surface Conditions</a:t>
            </a:r>
            <a:endParaRPr lang="en-GB" sz="2000" b="1" dirty="0">
              <a:solidFill>
                <a:schemeClr val="bg1">
                  <a:lumMod val="95000"/>
                </a:schemeClr>
              </a:solidFill>
              <a:latin typeface="Bell MT" panose="02020503060305020303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30240D8-2B77-4113-94AA-AA9B7C01D07F}"/>
              </a:ext>
            </a:extLst>
          </p:cNvPr>
          <p:cNvSpPr txBox="1"/>
          <p:nvPr/>
        </p:nvSpPr>
        <p:spPr>
          <a:xfrm>
            <a:off x="609600" y="3552825"/>
            <a:ext cx="2895600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i="0" dirty="0">
                <a:solidFill>
                  <a:schemeClr val="accent2">
                    <a:lumMod val="20000"/>
                    <a:lumOff val="80000"/>
                  </a:schemeClr>
                </a:solidFill>
                <a:effectLst/>
                <a:latin typeface="Bell MT" panose="02020503060305020303" pitchFamily="18" charset="0"/>
              </a:rPr>
              <a:t>Road surface conditions significantly affect accident occurrences, with dry surfaces contributing to the highest casualty numbers, totalling 279,445 accidents attributed to optimal driving conditions in this dataset.</a:t>
            </a:r>
            <a:endParaRPr lang="en-GB" dirty="0">
              <a:solidFill>
                <a:schemeClr val="accent2">
                  <a:lumMod val="20000"/>
                  <a:lumOff val="80000"/>
                </a:schemeClr>
              </a:solidFill>
              <a:latin typeface="Bell MT" panose="02020503060305020303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2F57BF3-AFEF-458E-8114-20F794F28F49}"/>
              </a:ext>
            </a:extLst>
          </p:cNvPr>
          <p:cNvSpPr txBox="1"/>
          <p:nvPr/>
        </p:nvSpPr>
        <p:spPr>
          <a:xfrm>
            <a:off x="4876800" y="2781300"/>
            <a:ext cx="26479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b="1" i="0" dirty="0">
                <a:solidFill>
                  <a:schemeClr val="bg1"/>
                </a:solidFill>
                <a:effectLst/>
                <a:latin typeface="Bell MT" panose="02020503060305020303" pitchFamily="18" charset="0"/>
              </a:rPr>
              <a:t>Light Conditions</a:t>
            </a:r>
            <a:endParaRPr lang="en-GB" sz="2000" dirty="0">
              <a:solidFill>
                <a:schemeClr val="bg1"/>
              </a:solidFill>
              <a:latin typeface="Bell MT" panose="02020503060305020303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92A29A2-481F-4FDC-B914-A8E9793CCF93}"/>
              </a:ext>
            </a:extLst>
          </p:cNvPr>
          <p:cNvSpPr txBox="1"/>
          <p:nvPr/>
        </p:nvSpPr>
        <p:spPr>
          <a:xfrm>
            <a:off x="4719637" y="3576191"/>
            <a:ext cx="2962275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i="0" dirty="0">
                <a:solidFill>
                  <a:schemeClr val="accent2">
                    <a:lumMod val="20000"/>
                    <a:lumOff val="80000"/>
                  </a:schemeClr>
                </a:solidFill>
                <a:effectLst/>
                <a:latin typeface="Bell MT" panose="02020503060305020303" pitchFamily="18" charset="0"/>
              </a:rPr>
              <a:t>The analysis reveals that daylight conditions prevail in most accidents, accounting for 72.98% of incidents, which highlights the importance of visibility in accident prevention strategies.</a:t>
            </a:r>
            <a:endParaRPr lang="en-GB" dirty="0">
              <a:solidFill>
                <a:schemeClr val="accent2">
                  <a:lumMod val="20000"/>
                  <a:lumOff val="80000"/>
                </a:schemeClr>
              </a:solidFill>
              <a:latin typeface="Bell MT" panose="02020503060305020303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6919502-1D21-419E-AC89-A6572D401B73}"/>
              </a:ext>
            </a:extLst>
          </p:cNvPr>
          <p:cNvSpPr txBox="1"/>
          <p:nvPr/>
        </p:nvSpPr>
        <p:spPr>
          <a:xfrm>
            <a:off x="8924925" y="2781300"/>
            <a:ext cx="23145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b="1" i="0" dirty="0">
                <a:solidFill>
                  <a:schemeClr val="bg1"/>
                </a:solidFill>
                <a:effectLst/>
                <a:latin typeface="Bell MT" panose="02020503060305020303" pitchFamily="18" charset="0"/>
              </a:rPr>
              <a:t>Monthly Trends</a:t>
            </a:r>
            <a:endParaRPr lang="en-GB" sz="2000" dirty="0">
              <a:solidFill>
                <a:schemeClr val="bg1"/>
              </a:solidFill>
              <a:latin typeface="Bell MT" panose="02020503060305020303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F08050F-3E7A-4B20-A95A-46C0625621C2}"/>
              </a:ext>
            </a:extLst>
          </p:cNvPr>
          <p:cNvSpPr txBox="1"/>
          <p:nvPr/>
        </p:nvSpPr>
        <p:spPr>
          <a:xfrm>
            <a:off x="8839199" y="3585775"/>
            <a:ext cx="2743201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i="0" dirty="0">
                <a:solidFill>
                  <a:schemeClr val="accent2">
                    <a:lumMod val="20000"/>
                    <a:lumOff val="80000"/>
                  </a:schemeClr>
                </a:solidFill>
                <a:effectLst/>
                <a:latin typeface="Bell MT" panose="02020503060305020303" pitchFamily="18" charset="0"/>
              </a:rPr>
              <a:t>There was a slight casualty reduction from 2021 to 2022, decreasing from 222,146 to 195,737 total casualties, indicating potential improvements in road safety measures over this period.</a:t>
            </a:r>
            <a:endParaRPr lang="en-GB" dirty="0">
              <a:solidFill>
                <a:schemeClr val="accent2">
                  <a:lumMod val="20000"/>
                  <a:lumOff val="80000"/>
                </a:schemeClr>
              </a:solidFill>
              <a:latin typeface="Bell MT" panose="020205030603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764598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2303BD6-DD38-4F07-94B6-893BBFA4BAF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98496"/>
            <a:ext cx="12315825" cy="70549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F648657-4395-4EEF-AB4D-2923BF86A32B}"/>
              </a:ext>
            </a:extLst>
          </p:cNvPr>
          <p:cNvSpPr txBox="1"/>
          <p:nvPr/>
        </p:nvSpPr>
        <p:spPr>
          <a:xfrm>
            <a:off x="428625" y="438150"/>
            <a:ext cx="25431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0" i="0" dirty="0">
                <a:solidFill>
                  <a:schemeClr val="bg1"/>
                </a:solidFill>
                <a:effectLst/>
                <a:latin typeface="Bell MT" panose="02020503060305020303" pitchFamily="18" charset="0"/>
              </a:rPr>
              <a:t>Statistical Analysis</a:t>
            </a:r>
            <a:endParaRPr lang="en-GB" sz="2400" dirty="0">
              <a:solidFill>
                <a:schemeClr val="bg1"/>
              </a:solidFill>
              <a:latin typeface="Bell MT" panose="02020503060305020303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4F49CB8-BCE0-4018-AA67-61BA24148A2B}"/>
              </a:ext>
            </a:extLst>
          </p:cNvPr>
          <p:cNvSpPr txBox="1"/>
          <p:nvPr/>
        </p:nvSpPr>
        <p:spPr>
          <a:xfrm>
            <a:off x="428625" y="925178"/>
            <a:ext cx="291465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0" i="0" dirty="0">
                <a:solidFill>
                  <a:schemeClr val="bg1"/>
                </a:solidFill>
                <a:effectLst/>
                <a:latin typeface="Bell MT" panose="02020503060305020303" pitchFamily="18" charset="0"/>
              </a:rPr>
              <a:t>This dataset contains 307,973 entries, revealing critical insights into casualty trends and distributions.</a:t>
            </a:r>
            <a:endParaRPr lang="en-GB" dirty="0">
              <a:solidFill>
                <a:schemeClr val="bg1"/>
              </a:solidFill>
              <a:latin typeface="Bell MT" panose="02020503060305020303" pitchFamily="18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4785B20-8F56-4E92-89F6-641A7BB9423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48099" y="276224"/>
            <a:ext cx="4219573" cy="2159351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D22F0322-AABB-4641-9AFC-426C2AFB94CC}"/>
              </a:ext>
            </a:extLst>
          </p:cNvPr>
          <p:cNvSpPr txBox="1"/>
          <p:nvPr/>
        </p:nvSpPr>
        <p:spPr>
          <a:xfrm>
            <a:off x="3848099" y="602012"/>
            <a:ext cx="334327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b="0" i="0" dirty="0">
                <a:solidFill>
                  <a:schemeClr val="bg1"/>
                </a:solidFill>
                <a:effectLst/>
                <a:latin typeface="Bell MT" panose="02020503060305020303" pitchFamily="18" charset="0"/>
              </a:rPr>
              <a:t>Key Statistical Metrics Overview</a:t>
            </a:r>
            <a:endParaRPr lang="en-GB" sz="1400" dirty="0">
              <a:solidFill>
                <a:schemeClr val="bg1"/>
              </a:solidFill>
              <a:latin typeface="Bell MT" panose="02020503060305020303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4D702AB-6B1B-491A-8F64-FD4655420083}"/>
              </a:ext>
            </a:extLst>
          </p:cNvPr>
          <p:cNvSpPr txBox="1"/>
          <p:nvPr/>
        </p:nvSpPr>
        <p:spPr>
          <a:xfrm>
            <a:off x="3881436" y="911581"/>
            <a:ext cx="16383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b="1" i="0" dirty="0">
                <a:solidFill>
                  <a:schemeClr val="bg1"/>
                </a:solidFill>
                <a:effectLst/>
              </a:rPr>
              <a:t>Mean: 1.36</a:t>
            </a:r>
            <a:endParaRPr lang="en-GB" sz="2000" b="1" dirty="0">
              <a:solidFill>
                <a:schemeClr val="bg1"/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D7E8699-5194-4075-BDBF-24ECE6876A4F}"/>
              </a:ext>
            </a:extLst>
          </p:cNvPr>
          <p:cNvSpPr/>
          <p:nvPr/>
        </p:nvSpPr>
        <p:spPr>
          <a:xfrm>
            <a:off x="3500436" y="1518544"/>
            <a:ext cx="1238251" cy="40011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0" i="0" dirty="0">
                <a:effectLst/>
              </a:rPr>
              <a:t>Median: 1</a:t>
            </a:r>
            <a:endParaRPr lang="en-GB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546E95B-29A1-4596-B31E-04ECED9B8426}"/>
              </a:ext>
            </a:extLst>
          </p:cNvPr>
          <p:cNvSpPr/>
          <p:nvPr/>
        </p:nvSpPr>
        <p:spPr>
          <a:xfrm>
            <a:off x="4700586" y="1498606"/>
            <a:ext cx="2455186" cy="48572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0" i="0">
                <a:effectLst/>
              </a:rPr>
              <a:t>Mode: 1, indicating low casualties</a:t>
            </a:r>
            <a:endParaRPr lang="en-GB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CEA5F924-7D5C-4374-AC86-46F94A7B5DC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8624" y="2501051"/>
            <a:ext cx="4657726" cy="2299549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D3C9CCB7-F6B8-4230-8896-375CB9F4ADDA}"/>
              </a:ext>
            </a:extLst>
          </p:cNvPr>
          <p:cNvSpPr txBox="1"/>
          <p:nvPr/>
        </p:nvSpPr>
        <p:spPr>
          <a:xfrm>
            <a:off x="428624" y="2565025"/>
            <a:ext cx="276225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i="0" dirty="0">
                <a:solidFill>
                  <a:schemeClr val="bg1"/>
                </a:solidFill>
                <a:effectLst/>
                <a:latin typeface="Bell MT" panose="02020503060305020303" pitchFamily="18" charset="0"/>
              </a:rPr>
              <a:t>Distribution Visualization and Analysis</a:t>
            </a:r>
            <a:endParaRPr lang="en-GB" b="1" dirty="0">
              <a:solidFill>
                <a:schemeClr val="bg1"/>
              </a:solidFill>
              <a:latin typeface="Bell MT" panose="02020503060305020303" pitchFamily="18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5D3BB0E-81F4-4DAB-AEE9-8E605B2CD404}"/>
              </a:ext>
            </a:extLst>
          </p:cNvPr>
          <p:cNvSpPr txBox="1"/>
          <p:nvPr/>
        </p:nvSpPr>
        <p:spPr>
          <a:xfrm>
            <a:off x="695325" y="3650825"/>
            <a:ext cx="92392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b="1" i="0" dirty="0">
                <a:solidFill>
                  <a:schemeClr val="bg1"/>
                </a:solidFill>
                <a:effectLst/>
              </a:rPr>
              <a:t>5.69</a:t>
            </a:r>
            <a:endParaRPr lang="en-GB" sz="3200" b="1" dirty="0">
              <a:solidFill>
                <a:schemeClr val="bg1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2A9E1B1-245B-4511-AADF-B54EDEA4A3B4}"/>
              </a:ext>
            </a:extLst>
          </p:cNvPr>
          <p:cNvSpPr txBox="1"/>
          <p:nvPr/>
        </p:nvSpPr>
        <p:spPr>
          <a:xfrm>
            <a:off x="526255" y="4112490"/>
            <a:ext cx="23479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b="1" i="0" dirty="0">
                <a:solidFill>
                  <a:schemeClr val="tx2">
                    <a:lumMod val="20000"/>
                    <a:lumOff val="80000"/>
                  </a:schemeClr>
                </a:solidFill>
                <a:effectLst/>
                <a:latin typeface="Bell MT" panose="02020503060305020303" pitchFamily="18" charset="0"/>
              </a:rPr>
              <a:t>High skewness factor</a:t>
            </a:r>
            <a:endParaRPr lang="en-GB" sz="1600" b="1" dirty="0">
              <a:solidFill>
                <a:schemeClr val="tx2">
                  <a:lumMod val="20000"/>
                  <a:lumOff val="80000"/>
                </a:schemeClr>
              </a:solidFill>
              <a:latin typeface="Bell MT" panose="02020503060305020303" pitchFamily="18" charset="0"/>
            </a:endParaRP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64C0CDF8-CBD8-4365-8FE0-FDA4ED60811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53052" y="2530531"/>
            <a:ext cx="5019674" cy="2270069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5994641D-EE1D-408C-8DAA-F43F215827F0}"/>
              </a:ext>
            </a:extLst>
          </p:cNvPr>
          <p:cNvSpPr txBox="1"/>
          <p:nvPr/>
        </p:nvSpPr>
        <p:spPr>
          <a:xfrm>
            <a:off x="5600700" y="2810211"/>
            <a:ext cx="15049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b="1" i="0" dirty="0">
                <a:solidFill>
                  <a:schemeClr val="bg1"/>
                </a:solidFill>
                <a:effectLst/>
                <a:latin typeface="Bell MT" panose="02020503060305020303" pitchFamily="18" charset="0"/>
              </a:rPr>
              <a:t>Key Insights from Analysis</a:t>
            </a:r>
            <a:endParaRPr lang="en-GB" sz="1600" b="1" dirty="0">
              <a:solidFill>
                <a:schemeClr val="bg1"/>
              </a:solidFill>
              <a:latin typeface="Bell MT" panose="02020503060305020303" pitchFamily="18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F2A6A2E-7508-4F6F-9567-57860C92AE2B}"/>
              </a:ext>
            </a:extLst>
          </p:cNvPr>
          <p:cNvSpPr txBox="1"/>
          <p:nvPr/>
        </p:nvSpPr>
        <p:spPr>
          <a:xfrm>
            <a:off x="7505702" y="2656322"/>
            <a:ext cx="16192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b="1" i="0" dirty="0">
                <a:solidFill>
                  <a:schemeClr val="bg1"/>
                </a:solidFill>
                <a:effectLst/>
              </a:rPr>
              <a:t>Data Skewness</a:t>
            </a:r>
            <a:endParaRPr lang="en-GB" sz="1200" b="1" dirty="0">
              <a:solidFill>
                <a:schemeClr val="bg1"/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E602459-D925-4479-B6E8-7F9BA5DFCF13}"/>
              </a:ext>
            </a:extLst>
          </p:cNvPr>
          <p:cNvSpPr txBox="1"/>
          <p:nvPr/>
        </p:nvSpPr>
        <p:spPr>
          <a:xfrm>
            <a:off x="7477131" y="2876679"/>
            <a:ext cx="16192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b="1" i="0" dirty="0">
                <a:solidFill>
                  <a:schemeClr val="bg1"/>
                </a:solidFill>
                <a:effectLst/>
              </a:rPr>
              <a:t>The distribution shows a significant long tail of high casualty events.</a:t>
            </a:r>
            <a:endParaRPr lang="en-GB" sz="800" b="1" dirty="0">
              <a:solidFill>
                <a:schemeClr val="bg1"/>
              </a:solidFill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5218741-E286-4521-95CF-62B3EA0B6F64}"/>
              </a:ext>
            </a:extLst>
          </p:cNvPr>
          <p:cNvSpPr txBox="1"/>
          <p:nvPr/>
        </p:nvSpPr>
        <p:spPr>
          <a:xfrm>
            <a:off x="7505702" y="3650825"/>
            <a:ext cx="12477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b="1" i="0" dirty="0">
                <a:solidFill>
                  <a:schemeClr val="bg1"/>
                </a:solidFill>
                <a:effectLst/>
                <a:latin typeface="Bell MT" panose="02020503060305020303" pitchFamily="18" charset="0"/>
              </a:rPr>
              <a:t>Casualty Concentration</a:t>
            </a:r>
            <a:endParaRPr lang="en-GB" sz="1200" b="1" dirty="0">
              <a:solidFill>
                <a:schemeClr val="bg1"/>
              </a:solidFill>
              <a:latin typeface="Bell MT" panose="02020503060305020303" pitchFamily="18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5649FB8-8C9E-486F-AF6C-0E2C9D9EF5B0}"/>
              </a:ext>
            </a:extLst>
          </p:cNvPr>
          <p:cNvSpPr txBox="1"/>
          <p:nvPr/>
        </p:nvSpPr>
        <p:spPr>
          <a:xfrm>
            <a:off x="7453317" y="4027851"/>
            <a:ext cx="1352543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900" b="1" i="0" dirty="0">
                <a:solidFill>
                  <a:schemeClr val="bg1"/>
                </a:solidFill>
                <a:effectLst/>
              </a:rPr>
              <a:t>Median and mode at 1 indicate most incidents have low casualties.</a:t>
            </a:r>
            <a:endParaRPr lang="en-GB" sz="9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305616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AE8E707-A5DC-48F2-AEF4-2927AD62405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7100"/>
            <a:ext cx="12261804" cy="695177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A6455D0-E12D-46C4-857E-674D3FA076F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57850" y="-27101"/>
            <a:ext cx="6603955" cy="695177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B0BB946-E961-489B-8CDE-49519691411C}"/>
              </a:ext>
            </a:extLst>
          </p:cNvPr>
          <p:cNvSpPr txBox="1"/>
          <p:nvPr/>
        </p:nvSpPr>
        <p:spPr>
          <a:xfrm>
            <a:off x="638175" y="723900"/>
            <a:ext cx="4191000" cy="2370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GB" sz="3200" dirty="0">
                <a:solidFill>
                  <a:schemeClr val="tx2">
                    <a:lumMod val="60000"/>
                    <a:lumOff val="40000"/>
                  </a:schemeClr>
                </a:solidFill>
                <a:effectLst/>
                <a:latin typeface="Georgia" panose="020405020504050203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GB" sz="3200" dirty="0">
                <a:solidFill>
                  <a:schemeClr val="tx2">
                    <a:lumMod val="60000"/>
                    <a:lumOff val="40000"/>
                  </a:schemeClr>
                </a:solidFill>
                <a:effectLst/>
                <a:latin typeface="Georgia" panose="020405020504050203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Introduction to Road Safety Insights</a:t>
            </a:r>
          </a:p>
          <a:p>
            <a:pPr algn="ctr"/>
            <a:endParaRPr lang="en-GB" sz="3200" dirty="0">
              <a:solidFill>
                <a:schemeClr val="tx2">
                  <a:lumMod val="60000"/>
                  <a:lumOff val="40000"/>
                </a:schemeClr>
              </a:solidFill>
              <a:latin typeface="Georgia" panose="02040502050405020303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DDF0B0B-D54A-4B28-82A4-59DF523EDF4C}"/>
              </a:ext>
            </a:extLst>
          </p:cNvPr>
          <p:cNvSpPr txBox="1"/>
          <p:nvPr/>
        </p:nvSpPr>
        <p:spPr>
          <a:xfrm>
            <a:off x="538162" y="3429000"/>
            <a:ext cx="4391025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000" b="1" dirty="0"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latin typeface="Book Antiqua" panose="0204060205030503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This presentation highlights critical data-driven recommendations for road safety improvements, emphasizing the urgent need to address accident hotspots and enhance public awareness through actionable policies and infrastructure upgrades.</a:t>
            </a:r>
            <a:endParaRPr lang="en-GB" sz="2000" dirty="0">
              <a:solidFill>
                <a:schemeClr val="accent2">
                  <a:lumMod val="60000"/>
                  <a:lumOff val="40000"/>
                </a:schemeClr>
              </a:solidFill>
              <a:effectLst/>
              <a:latin typeface="Book Antiqua" panose="0204060205030503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/>
            <a:endParaRPr lang="en-GB" sz="2000" dirty="0">
              <a:solidFill>
                <a:schemeClr val="accent2">
                  <a:lumMod val="60000"/>
                  <a:lumOff val="40000"/>
                </a:schemeClr>
              </a:solidFill>
              <a:latin typeface="Book Antiqua" panose="0204060205030503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890410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710D8BA-C9A7-469E-AE6B-6CFD0F9C83F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7100"/>
            <a:ext cx="12192000" cy="68851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62908B2-E348-42A8-8312-4ECCF38F8EE8}"/>
              </a:ext>
            </a:extLst>
          </p:cNvPr>
          <p:cNvSpPr txBox="1"/>
          <p:nvPr/>
        </p:nvSpPr>
        <p:spPr>
          <a:xfrm>
            <a:off x="914400" y="609600"/>
            <a:ext cx="4362450" cy="2370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GB" sz="3200" b="1" dirty="0">
                <a:solidFill>
                  <a:schemeClr val="tx2">
                    <a:lumMod val="20000"/>
                    <a:lumOff val="80000"/>
                  </a:schemeClr>
                </a:solidFill>
                <a:effectLst/>
                <a:latin typeface="Georgia" panose="020405020504050203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Identification of Accident Hotspots</a:t>
            </a: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GB" sz="3200" b="1" dirty="0">
                <a:solidFill>
                  <a:schemeClr val="tx2">
                    <a:lumMod val="20000"/>
                    <a:lumOff val="80000"/>
                  </a:schemeClr>
                </a:solidFill>
                <a:effectLst/>
                <a:latin typeface="Georgia" panose="020405020504050203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  <a:p>
            <a:pPr algn="ctr"/>
            <a:endParaRPr lang="en-GB" sz="3200" b="1" dirty="0">
              <a:solidFill>
                <a:schemeClr val="tx2">
                  <a:lumMod val="20000"/>
                  <a:lumOff val="80000"/>
                </a:schemeClr>
              </a:solidFill>
              <a:latin typeface="Georgia" panose="02040502050405020303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9E2FAF0-BF84-4A42-9857-BED4A6DDC4FC}"/>
              </a:ext>
            </a:extLst>
          </p:cNvPr>
          <p:cNvSpPr txBox="1"/>
          <p:nvPr/>
        </p:nvSpPr>
        <p:spPr>
          <a:xfrm>
            <a:off x="590550" y="3286125"/>
            <a:ext cx="4857750" cy="26838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 algn="ctr">
              <a:lnSpc>
                <a:spcPct val="107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Ø"/>
              <a:tabLst>
                <a:tab pos="457200" algn="l"/>
              </a:tabLst>
            </a:pPr>
            <a:r>
              <a:rPr lang="en-GB" sz="2000" b="1" dirty="0"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latin typeface="Book Antiqua" panose="0204060205030503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Urban areas experience high casualty rates due to congestion</a:t>
            </a:r>
            <a:endParaRPr lang="en-GB" sz="2000" b="1" dirty="0">
              <a:solidFill>
                <a:schemeClr val="accent2">
                  <a:lumMod val="40000"/>
                  <a:lumOff val="60000"/>
                </a:schemeClr>
              </a:solidFill>
              <a:effectLst/>
              <a:latin typeface="Book Antiqua" panose="0204060205030503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ctr">
              <a:lnSpc>
                <a:spcPct val="107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Ø"/>
              <a:tabLst>
                <a:tab pos="457200" algn="l"/>
              </a:tabLst>
            </a:pPr>
            <a:r>
              <a:rPr lang="en-GB" sz="2000" b="1" dirty="0"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latin typeface="Book Antiqua" panose="0204060205030503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Single carriageways pose risks from traffic separation issues</a:t>
            </a:r>
            <a:endParaRPr lang="en-GB" sz="2000" b="1" dirty="0">
              <a:solidFill>
                <a:schemeClr val="accent2">
                  <a:lumMod val="40000"/>
                  <a:lumOff val="60000"/>
                </a:schemeClr>
              </a:solidFill>
              <a:effectLst/>
              <a:latin typeface="Book Antiqua" panose="0204060205030503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ctr">
              <a:lnSpc>
                <a:spcPct val="107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Ø"/>
              <a:tabLst>
                <a:tab pos="457200" algn="l"/>
              </a:tabLst>
            </a:pPr>
            <a:r>
              <a:rPr lang="en-GB" sz="2000" b="1" dirty="0"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latin typeface="Book Antiqua" panose="0204060205030503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Dry road conditions contribute to unexpected accident risks</a:t>
            </a:r>
            <a:endParaRPr lang="en-GB" sz="2000" b="1" dirty="0">
              <a:solidFill>
                <a:schemeClr val="accent2">
                  <a:lumMod val="40000"/>
                  <a:lumOff val="60000"/>
                </a:schemeClr>
              </a:solidFill>
              <a:effectLst/>
              <a:latin typeface="Book Antiqua" panose="0204060205030503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indent="-342900" algn="ctr">
              <a:buFont typeface="Wingdings" panose="05000000000000000000" pitchFamily="2" charset="2"/>
              <a:buChar char="Ø"/>
            </a:pPr>
            <a:endParaRPr lang="en-GB" sz="2000" b="1" dirty="0">
              <a:solidFill>
                <a:schemeClr val="accent2">
                  <a:lumMod val="40000"/>
                  <a:lumOff val="60000"/>
                </a:schemeClr>
              </a:solidFill>
              <a:latin typeface="Book Antiqua" panose="0204060205030503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107996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A82A297-4206-43D5-8B28-01CB4052937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8219"/>
            <a:ext cx="12192000" cy="687621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5FA146D-E890-43E0-9B90-5DA1232E3D75}"/>
              </a:ext>
            </a:extLst>
          </p:cNvPr>
          <p:cNvSpPr txBox="1"/>
          <p:nvPr/>
        </p:nvSpPr>
        <p:spPr>
          <a:xfrm>
            <a:off x="714375" y="723900"/>
            <a:ext cx="4524375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200" dirty="0">
                <a:solidFill>
                  <a:schemeClr val="accent1">
                    <a:lumMod val="40000"/>
                    <a:lumOff val="60000"/>
                  </a:schemeClr>
                </a:solidFill>
                <a:effectLst/>
                <a:latin typeface="Georgia" panose="020405020504050203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Targeted Policy Measures</a:t>
            </a:r>
          </a:p>
          <a:p>
            <a:pPr algn="ctr"/>
            <a:endParaRPr lang="en-GB" sz="3200" dirty="0">
              <a:solidFill>
                <a:schemeClr val="accent1">
                  <a:lumMod val="40000"/>
                  <a:lumOff val="60000"/>
                </a:schemeClr>
              </a:solidFill>
              <a:latin typeface="Georgia" panose="02040502050405020303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68135E9-A5BC-4B4C-B4DD-DDE7A16948BD}"/>
              </a:ext>
            </a:extLst>
          </p:cNvPr>
          <p:cNvSpPr txBox="1"/>
          <p:nvPr/>
        </p:nvSpPr>
        <p:spPr>
          <a:xfrm>
            <a:off x="714375" y="3267075"/>
            <a:ext cx="4610100" cy="31157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 algn="ctr">
              <a:lnSpc>
                <a:spcPct val="107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Ø"/>
              <a:tabLst>
                <a:tab pos="457200" algn="l"/>
              </a:tabLst>
            </a:pPr>
            <a:r>
              <a:rPr lang="en-GB" sz="2000" b="1" dirty="0">
                <a:solidFill>
                  <a:schemeClr val="accent2">
                    <a:lumMod val="20000"/>
                    <a:lumOff val="8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Implement stricter speed limits in urban zones and highways</a:t>
            </a:r>
            <a:endParaRPr lang="en-GB" sz="2000" b="1" dirty="0">
              <a:solidFill>
                <a:schemeClr val="accent2">
                  <a:lumMod val="20000"/>
                  <a:lumOff val="80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ctr">
              <a:lnSpc>
                <a:spcPct val="107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Ø"/>
              <a:tabLst>
                <a:tab pos="457200" algn="l"/>
              </a:tabLst>
            </a:pPr>
            <a:r>
              <a:rPr lang="en-GB" sz="2000" b="1" dirty="0">
                <a:solidFill>
                  <a:schemeClr val="accent2">
                    <a:lumMod val="20000"/>
                    <a:lumOff val="8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Mandate advanced safety features in all commercial vehicles</a:t>
            </a:r>
            <a:endParaRPr lang="en-GB" sz="2000" b="1" dirty="0">
              <a:solidFill>
                <a:schemeClr val="accent2">
                  <a:lumMod val="20000"/>
                  <a:lumOff val="80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ctr">
              <a:lnSpc>
                <a:spcPct val="107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Ø"/>
              <a:tabLst>
                <a:tab pos="457200" algn="l"/>
              </a:tabLst>
            </a:pPr>
            <a:r>
              <a:rPr lang="en-GB" sz="2000" b="1" dirty="0">
                <a:solidFill>
                  <a:schemeClr val="accent2">
                    <a:lumMod val="20000"/>
                    <a:lumOff val="8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Deploy speed cameras in identified high-risk accident zones</a:t>
            </a:r>
            <a:endParaRPr lang="en-GB" sz="2000" b="1" dirty="0">
              <a:solidFill>
                <a:schemeClr val="accent2">
                  <a:lumMod val="20000"/>
                  <a:lumOff val="80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85750" indent="-285750" algn="ctr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en-GB" sz="2000" b="1" dirty="0">
                <a:solidFill>
                  <a:schemeClr val="accent2">
                    <a:lumMod val="20000"/>
                    <a:lumOff val="8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  <a:p>
            <a:pPr marL="285750" indent="-285750" algn="ctr">
              <a:buFont typeface="Wingdings" panose="05000000000000000000" pitchFamily="2" charset="2"/>
              <a:buChar char="Ø"/>
            </a:pPr>
            <a:endParaRPr lang="en-GB" sz="2000" b="1" dirty="0">
              <a:solidFill>
                <a:schemeClr val="accent2">
                  <a:lumMod val="20000"/>
                  <a:lumOff val="8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900134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D4B0E1B-718C-4269-9C00-B0FE0743EF2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48" y="0"/>
            <a:ext cx="12175252" cy="695325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3FBC9BE-9B68-42F0-A94A-E9D81A1CDEF3}"/>
              </a:ext>
            </a:extLst>
          </p:cNvPr>
          <p:cNvSpPr txBox="1"/>
          <p:nvPr/>
        </p:nvSpPr>
        <p:spPr>
          <a:xfrm>
            <a:off x="714375" y="695325"/>
            <a:ext cx="4676775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200" b="1" dirty="0">
                <a:solidFill>
                  <a:schemeClr val="accent1">
                    <a:lumMod val="20000"/>
                    <a:lumOff val="80000"/>
                  </a:schemeClr>
                </a:solidFill>
                <a:effectLst/>
                <a:latin typeface="Georgia" panose="020405020504050203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Infrastructure Enhancements for Safety</a:t>
            </a:r>
          </a:p>
          <a:p>
            <a:pPr algn="ctr"/>
            <a:endParaRPr lang="en-GB" sz="3200" b="1" dirty="0">
              <a:solidFill>
                <a:schemeClr val="accent1">
                  <a:lumMod val="20000"/>
                  <a:lumOff val="80000"/>
                </a:schemeClr>
              </a:solidFill>
              <a:latin typeface="Georgia" panose="02040502050405020303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8A571A2-3314-4FED-8BBA-83E6CB003ED3}"/>
              </a:ext>
            </a:extLst>
          </p:cNvPr>
          <p:cNvSpPr txBox="1"/>
          <p:nvPr/>
        </p:nvSpPr>
        <p:spPr>
          <a:xfrm>
            <a:off x="590549" y="3219760"/>
            <a:ext cx="4924425" cy="36382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 algn="ctr">
              <a:lnSpc>
                <a:spcPct val="107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v"/>
              <a:tabLst>
                <a:tab pos="457200" algn="l"/>
              </a:tabLst>
            </a:pPr>
            <a:r>
              <a:rPr lang="en-GB" sz="2400" b="1" dirty="0"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latin typeface="Book Antiqua" panose="0204060205030503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Upgrade single carriageways to dual carriageways for safety.</a:t>
            </a:r>
            <a:endParaRPr lang="en-GB" sz="2400" b="1" dirty="0">
              <a:solidFill>
                <a:schemeClr val="accent2">
                  <a:lumMod val="40000"/>
                  <a:lumOff val="60000"/>
                </a:schemeClr>
              </a:solidFill>
              <a:effectLst/>
              <a:latin typeface="Book Antiqua" panose="0204060205030503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ctr">
              <a:lnSpc>
                <a:spcPct val="107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v"/>
              <a:tabLst>
                <a:tab pos="457200" algn="l"/>
              </a:tabLst>
            </a:pPr>
            <a:r>
              <a:rPr lang="en-GB" sz="2400" b="1" dirty="0"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latin typeface="Book Antiqua" panose="0204060205030503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Improve junction designs to reduce congestion and risks.</a:t>
            </a:r>
            <a:endParaRPr lang="en-GB" sz="2400" b="1" dirty="0">
              <a:solidFill>
                <a:schemeClr val="accent2">
                  <a:lumMod val="40000"/>
                  <a:lumOff val="60000"/>
                </a:schemeClr>
              </a:solidFill>
              <a:effectLst/>
              <a:latin typeface="Book Antiqua" panose="0204060205030503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ctr">
              <a:lnSpc>
                <a:spcPct val="107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v"/>
              <a:tabLst>
                <a:tab pos="457200" algn="l"/>
              </a:tabLst>
            </a:pPr>
            <a:r>
              <a:rPr lang="en-GB" sz="2400" b="1" dirty="0"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latin typeface="Book Antiqua" panose="0204060205030503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Add pedestrian crossings and cycle lanes in urban areas.</a:t>
            </a:r>
            <a:endParaRPr lang="en-GB" sz="2400" b="1" dirty="0">
              <a:solidFill>
                <a:schemeClr val="accent2">
                  <a:lumMod val="40000"/>
                  <a:lumOff val="60000"/>
                </a:schemeClr>
              </a:solidFill>
              <a:effectLst/>
              <a:latin typeface="Book Antiqua" panose="0204060205030503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85750" indent="-285750" algn="ctr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v"/>
            </a:pPr>
            <a:r>
              <a:rPr lang="en-GB" sz="2400" b="1" dirty="0"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latin typeface="Book Antiqua" panose="0204060205030503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  <a:p>
            <a:pPr marL="285750" indent="-285750" algn="ctr">
              <a:buFont typeface="Wingdings" panose="05000000000000000000" pitchFamily="2" charset="2"/>
              <a:buChar char="v"/>
            </a:pPr>
            <a:endParaRPr lang="en-GB" sz="2400" b="1" dirty="0">
              <a:solidFill>
                <a:schemeClr val="accent2">
                  <a:lumMod val="40000"/>
                  <a:lumOff val="60000"/>
                </a:schemeClr>
              </a:solidFill>
              <a:latin typeface="Book Antiqua" panose="0204060205030503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2381646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17E6A3C-5F53-41B3-86B3-B7E6DDA6C9E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43565"/>
            <a:ext cx="12268200" cy="699681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BF69EA9-C996-4460-BF9B-2F6B165AEFA8}"/>
              </a:ext>
            </a:extLst>
          </p:cNvPr>
          <p:cNvSpPr txBox="1"/>
          <p:nvPr/>
        </p:nvSpPr>
        <p:spPr>
          <a:xfrm>
            <a:off x="790575" y="828675"/>
            <a:ext cx="4505325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b="1" dirty="0">
                <a:solidFill>
                  <a:schemeClr val="accent1">
                    <a:lumMod val="20000"/>
                    <a:lumOff val="80000"/>
                  </a:schemeClr>
                </a:solidFill>
                <a:effectLst/>
                <a:latin typeface="Georgia" panose="020405020504050203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Community Engagement Strategies</a:t>
            </a:r>
          </a:p>
          <a:p>
            <a:pPr algn="ctr"/>
            <a:endParaRPr lang="en-GB" sz="2800" b="1" dirty="0">
              <a:solidFill>
                <a:schemeClr val="accent1">
                  <a:lumMod val="20000"/>
                  <a:lumOff val="80000"/>
                </a:schemeClr>
              </a:solidFill>
              <a:latin typeface="Georgia" panose="02040502050405020303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25ABEEB-6BBE-4BC9-8FF3-5B74A61B30E8}"/>
              </a:ext>
            </a:extLst>
          </p:cNvPr>
          <p:cNvSpPr txBox="1"/>
          <p:nvPr/>
        </p:nvSpPr>
        <p:spPr>
          <a:xfrm>
            <a:off x="600074" y="3429000"/>
            <a:ext cx="4886325" cy="28542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 algn="ctr">
              <a:lnSpc>
                <a:spcPct val="107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Ø"/>
              <a:tabLst>
                <a:tab pos="457200" algn="l"/>
              </a:tabLst>
            </a:pPr>
            <a:r>
              <a:rPr lang="en-GB" sz="1800" b="1" dirty="0">
                <a:solidFill>
                  <a:schemeClr val="accent2">
                    <a:lumMod val="20000"/>
                    <a:lumOff val="80000"/>
                  </a:schemeClr>
                </a:solidFill>
                <a:effectLst/>
                <a:latin typeface="Arial Black" panose="020B0A040201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Seasonal campaigns to promote road safety awareness</a:t>
            </a:r>
            <a:endParaRPr lang="en-GB" sz="1800" b="1" dirty="0">
              <a:solidFill>
                <a:schemeClr val="accent2">
                  <a:lumMod val="20000"/>
                  <a:lumOff val="80000"/>
                </a:schemeClr>
              </a:solidFill>
              <a:effectLst/>
              <a:latin typeface="Arial Black" panose="020B0A040201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ctr">
              <a:lnSpc>
                <a:spcPct val="107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Ø"/>
              <a:tabLst>
                <a:tab pos="457200" algn="l"/>
              </a:tabLst>
            </a:pPr>
            <a:r>
              <a:rPr lang="en-GB" sz="1800" b="1" dirty="0">
                <a:solidFill>
                  <a:schemeClr val="accent2">
                    <a:lumMod val="20000"/>
                    <a:lumOff val="80000"/>
                  </a:schemeClr>
                </a:solidFill>
                <a:effectLst/>
                <a:latin typeface="Arial Black" panose="020B0A040201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Education focusing on pedestrian and cyclist interactions</a:t>
            </a:r>
            <a:endParaRPr lang="en-GB" sz="1800" b="1" dirty="0">
              <a:solidFill>
                <a:schemeClr val="accent2">
                  <a:lumMod val="20000"/>
                  <a:lumOff val="80000"/>
                </a:schemeClr>
              </a:solidFill>
              <a:effectLst/>
              <a:latin typeface="Arial Black" panose="020B0A040201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ctr">
              <a:lnSpc>
                <a:spcPct val="107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Ø"/>
              <a:tabLst>
                <a:tab pos="457200" algn="l"/>
              </a:tabLst>
            </a:pPr>
            <a:r>
              <a:rPr lang="en-GB" sz="1800" b="1" dirty="0">
                <a:solidFill>
                  <a:schemeClr val="accent2">
                    <a:lumMod val="20000"/>
                    <a:lumOff val="80000"/>
                  </a:schemeClr>
                </a:solidFill>
                <a:effectLst/>
                <a:latin typeface="Arial Black" panose="020B0A040201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Reporting initiatives for near-miss incidents in communities</a:t>
            </a:r>
            <a:endParaRPr lang="en-GB" sz="1800" b="1" dirty="0">
              <a:solidFill>
                <a:schemeClr val="accent2">
                  <a:lumMod val="20000"/>
                  <a:lumOff val="80000"/>
                </a:schemeClr>
              </a:solidFill>
              <a:effectLst/>
              <a:latin typeface="Arial Black" panose="020B0A040201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85750" indent="-285750" algn="ctr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en-GB" sz="1800" b="1" dirty="0">
                <a:solidFill>
                  <a:schemeClr val="accent2">
                    <a:lumMod val="20000"/>
                    <a:lumOff val="80000"/>
                  </a:schemeClr>
                </a:solidFill>
                <a:effectLst/>
                <a:latin typeface="Arial Black" panose="020B0A040201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  <a:p>
            <a:pPr marL="285750" indent="-285750" algn="ctr">
              <a:buFont typeface="Wingdings" panose="05000000000000000000" pitchFamily="2" charset="2"/>
              <a:buChar char="Ø"/>
            </a:pPr>
            <a:endParaRPr lang="en-GB" b="1" dirty="0">
              <a:solidFill>
                <a:schemeClr val="accent2">
                  <a:lumMod val="20000"/>
                  <a:lumOff val="80000"/>
                </a:schemeClr>
              </a:solidFill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0336820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9B6D167-F1B6-4A5E-966C-DF869E64C6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36361"/>
            <a:ext cx="12191999" cy="698961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A8A5BFF-A9AF-4BAB-B331-D987BBDC6AB3}"/>
              </a:ext>
            </a:extLst>
          </p:cNvPr>
          <p:cNvSpPr txBox="1"/>
          <p:nvPr/>
        </p:nvSpPr>
        <p:spPr>
          <a:xfrm>
            <a:off x="847725" y="809625"/>
            <a:ext cx="42672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b="1" dirty="0">
                <a:solidFill>
                  <a:schemeClr val="accent1">
                    <a:lumMod val="20000"/>
                    <a:lumOff val="80000"/>
                  </a:schemeClr>
                </a:solidFill>
                <a:effectLst/>
                <a:latin typeface="Georgia" panose="020405020504050203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Continuous Monitoring for Road Safety</a:t>
            </a:r>
          </a:p>
          <a:p>
            <a:pPr algn="ctr"/>
            <a:endParaRPr lang="en-GB" sz="2800" b="1" dirty="0">
              <a:solidFill>
                <a:schemeClr val="accent1">
                  <a:lumMod val="20000"/>
                  <a:lumOff val="80000"/>
                </a:schemeClr>
              </a:solidFill>
              <a:latin typeface="Georgia" panose="02040502050405020303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6E31DBB-F182-4D08-A950-1492005B19CC}"/>
              </a:ext>
            </a:extLst>
          </p:cNvPr>
          <p:cNvSpPr txBox="1"/>
          <p:nvPr/>
        </p:nvSpPr>
        <p:spPr>
          <a:xfrm>
            <a:off x="619125" y="3276600"/>
            <a:ext cx="4514850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000" b="1" dirty="0">
                <a:solidFill>
                  <a:schemeClr val="accent4">
                    <a:lumMod val="40000"/>
                    <a:lumOff val="60000"/>
                  </a:schemeClr>
                </a:solidFill>
                <a:effectLst/>
                <a:latin typeface="Bookman Old Style" panose="0205060405050502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Real-time accident monitoring integrates data from police, hospitals, and traffic, enabling efficient evaluation of safety interventions. This proactive approach ensures ongoing improvements in road safety and supports data-driven decision-making.</a:t>
            </a:r>
          </a:p>
          <a:p>
            <a:pPr algn="ctr"/>
            <a:endParaRPr lang="en-GB" sz="2000" b="1" dirty="0">
              <a:solidFill>
                <a:schemeClr val="accent4">
                  <a:lumMod val="40000"/>
                  <a:lumOff val="60000"/>
                </a:schemeClr>
              </a:solidFill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1900192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74DC492-7CA9-448F-9AF1-3CD51475E77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596"/>
            <a:ext cx="12192000" cy="685959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3EF2E16-8020-4971-8344-F40D1DEBD94D}"/>
              </a:ext>
            </a:extLst>
          </p:cNvPr>
          <p:cNvSpPr txBox="1"/>
          <p:nvPr/>
        </p:nvSpPr>
        <p:spPr>
          <a:xfrm>
            <a:off x="3914775" y="2590800"/>
            <a:ext cx="54102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5400" b="1" i="0" dirty="0">
                <a:solidFill>
                  <a:schemeClr val="accent2">
                    <a:lumMod val="20000"/>
                    <a:lumOff val="80000"/>
                  </a:schemeClr>
                </a:solidFill>
                <a:effectLst/>
                <a:latin typeface="Bell MT" panose="02020503060305020303" pitchFamily="18" charset="0"/>
              </a:rPr>
              <a:t>Thank you!</a:t>
            </a:r>
            <a:endParaRPr lang="en-GB" sz="5400" b="1" dirty="0">
              <a:solidFill>
                <a:schemeClr val="accent2">
                  <a:lumMod val="20000"/>
                  <a:lumOff val="80000"/>
                </a:schemeClr>
              </a:solidFill>
              <a:latin typeface="Bell MT" panose="020205030603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769719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227</TotalTime>
  <Words>542</Words>
  <Application>Microsoft Office PowerPoint</Application>
  <PresentationFormat>Widescreen</PresentationFormat>
  <Paragraphs>66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6" baseType="lpstr">
      <vt:lpstr>Arial</vt:lpstr>
      <vt:lpstr>Arial Black</vt:lpstr>
      <vt:lpstr>Bell MT</vt:lpstr>
      <vt:lpstr>Berlin Sans FB</vt:lpstr>
      <vt:lpstr>Berlin Sans FB Demi</vt:lpstr>
      <vt:lpstr>Book Antiqua</vt:lpstr>
      <vt:lpstr>Bookman Old Style</vt:lpstr>
      <vt:lpstr>Calibri</vt:lpstr>
      <vt:lpstr>Calibri Light</vt:lpstr>
      <vt:lpstr>Georgia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sadiq momodu</dc:creator>
  <cp:lastModifiedBy>sadiq momodu</cp:lastModifiedBy>
  <cp:revision>18</cp:revision>
  <dcterms:created xsi:type="dcterms:W3CDTF">2025-12-30T22:28:47Z</dcterms:created>
  <dcterms:modified xsi:type="dcterms:W3CDTF">2026-01-06T00:03:17Z</dcterms:modified>
</cp:coreProperties>
</file>